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Lst>
  <p:notesMasterIdLst>
    <p:notesMasterId r:id="rId18"/>
  </p:notesMasterIdLst>
  <p:sldIdLst>
    <p:sldId id="475" r:id="rId2"/>
    <p:sldId id="470" r:id="rId3"/>
    <p:sldId id="479" r:id="rId4"/>
    <p:sldId id="478" r:id="rId5"/>
    <p:sldId id="480" r:id="rId6"/>
    <p:sldId id="481" r:id="rId7"/>
    <p:sldId id="483" r:id="rId8"/>
    <p:sldId id="482" r:id="rId9"/>
    <p:sldId id="484" r:id="rId10"/>
    <p:sldId id="485" r:id="rId11"/>
    <p:sldId id="486" r:id="rId12"/>
    <p:sldId id="462" r:id="rId13"/>
    <p:sldId id="487" r:id="rId14"/>
    <p:sldId id="488" r:id="rId15"/>
    <p:sldId id="489" r:id="rId16"/>
    <p:sldId id="490" r:id="rId17"/>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A7118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434" autoAdjust="0"/>
  </p:normalViewPr>
  <p:slideViewPr>
    <p:cSldViewPr snapToGrid="0">
      <p:cViewPr varScale="1">
        <p:scale>
          <a:sx n="85" d="100"/>
          <a:sy n="85" d="100"/>
        </p:scale>
        <p:origin x="590" y="77"/>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1A9256-F9C8-48F3-9246-288820D1979F}"/>
              </a:ext>
            </a:extLst>
          </p:cNvPr>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608C6F2-4266-4213-8BF4-8EA0CDC970FA}"/>
              </a:ext>
            </a:extLst>
          </p:cNvPr>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pPr>
                <a:defRPr/>
              </a:pPr>
              <a:t>12/3/2025</a:t>
            </a:fld>
            <a:endParaRPr lang="en-US"/>
          </a:p>
        </p:txBody>
      </p:sp>
      <p:sp>
        <p:nvSpPr>
          <p:cNvPr id="4" name="Slide Image Placeholder 3">
            <a:extLst>
              <a:ext uri="{FF2B5EF4-FFF2-40B4-BE49-F238E27FC236}">
                <a16:creationId xmlns:a16="http://schemas.microsoft.com/office/drawing/2014/main" id="{8B13A30F-9520-44F4-81B2-1BCC447DE50D}"/>
              </a:ext>
            </a:extLst>
          </p:cNvPr>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a:extLst>
              <a:ext uri="{FF2B5EF4-FFF2-40B4-BE49-F238E27FC236}">
                <a16:creationId xmlns:a16="http://schemas.microsoft.com/office/drawing/2014/main" id="{4266252B-3FF1-4DA9-A03B-C61619A4108A}"/>
              </a:ext>
            </a:extLst>
          </p:cNvPr>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77DEBF4-55D6-4B92-B2C6-9B4374F6BE7F}"/>
              </a:ext>
            </a:extLst>
          </p:cNvPr>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B8A1201-67BC-4B63-9687-0E19225243E2}"/>
              </a:ext>
            </a:extLst>
          </p:cNvPr>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a:lvl1pPr>
          </a:lstStyle>
          <a:p>
            <a:pPr>
              <a:defRPr/>
            </a:pPr>
            <a:fld id="{36A1ABE2-8A9C-4371-A477-2D85B6949ADB}" type="slidenum">
              <a:rPr lang="en-US" altLang="en-US"/>
              <a:pPr>
                <a:defRPr/>
              </a:pPr>
              <a:t>‹#›</a:t>
            </a:fld>
            <a:endParaRPr lang="en-US" altLang="en-US"/>
          </a:p>
        </p:txBody>
      </p:sp>
    </p:spTree>
    <p:extLst>
      <p:ext uri="{BB962C8B-B14F-4D97-AF65-F5344CB8AC3E}">
        <p14:creationId xmlns:p14="http://schemas.microsoft.com/office/powerpoint/2010/main" val="33071945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B56918-D4B3-422F-BFF9-D10393CB1268}"/>
              </a:ext>
            </a:extLst>
          </p:cNvPr>
          <p:cNvSpPr>
            <a:spLocks noGrp="1"/>
          </p:cNvSpPr>
          <p:nvPr>
            <p:ph type="dt" sz="half" idx="10"/>
          </p:nvPr>
        </p:nvSpPr>
        <p:spPr/>
        <p:txBody>
          <a:bodyPr/>
          <a:lstStyle>
            <a:lvl1pPr>
              <a:defRPr/>
            </a:lvl1pPr>
          </a:lstStyle>
          <a:p>
            <a:pPr>
              <a:defRPr/>
            </a:pPr>
            <a:fld id="{EB984284-C742-4CDE-BCD1-55F1EACCE4BD}" type="datetime1">
              <a:rPr lang="en-US"/>
              <a:pPr>
                <a:defRPr/>
              </a:pPr>
              <a:t>12/3/2025</a:t>
            </a:fld>
            <a:endParaRPr lang="en-US"/>
          </a:p>
        </p:txBody>
      </p:sp>
      <p:sp>
        <p:nvSpPr>
          <p:cNvPr id="5" name="Footer Placeholder 4">
            <a:extLst>
              <a:ext uri="{FF2B5EF4-FFF2-40B4-BE49-F238E27FC236}">
                <a16:creationId xmlns:a16="http://schemas.microsoft.com/office/drawing/2014/main" id="{A082B6A4-3E11-4AFE-97A2-755EDA1DD9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2D3FD1-471F-422B-AFB8-CC8FCE5DCE6C}"/>
              </a:ext>
            </a:extLst>
          </p:cNvPr>
          <p:cNvSpPr>
            <a:spLocks noGrp="1"/>
          </p:cNvSpPr>
          <p:nvPr>
            <p:ph type="sldNum" sz="quarter" idx="12"/>
          </p:nvPr>
        </p:nvSpPr>
        <p:spPr/>
        <p:txBody>
          <a:bodyPr/>
          <a:lstStyle>
            <a:lvl1pPr>
              <a:defRPr/>
            </a:lvl1pPr>
          </a:lstStyle>
          <a:p>
            <a:pPr>
              <a:defRPr/>
            </a:pPr>
            <a:fld id="{4FAC8F4A-8BCF-4389-A68F-ABDBB8A38460}" type="slidenum">
              <a:rPr lang="en-US" altLang="en-US"/>
              <a:pPr>
                <a:defRPr/>
              </a:pPr>
              <a:t>‹#›</a:t>
            </a:fld>
            <a:endParaRPr lang="en-US" altLang="en-US"/>
          </a:p>
        </p:txBody>
      </p:sp>
    </p:spTree>
    <p:extLst>
      <p:ext uri="{BB962C8B-B14F-4D97-AF65-F5344CB8AC3E}">
        <p14:creationId xmlns:p14="http://schemas.microsoft.com/office/powerpoint/2010/main" val="3918394844"/>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DB27E7-0E5F-45FD-B9BC-82F6ACE50540}"/>
              </a:ext>
            </a:extLst>
          </p:cNvPr>
          <p:cNvSpPr>
            <a:spLocks noGrp="1"/>
          </p:cNvSpPr>
          <p:nvPr>
            <p:ph type="dt" sz="half" idx="10"/>
          </p:nvPr>
        </p:nvSpPr>
        <p:spPr/>
        <p:txBody>
          <a:bodyPr/>
          <a:lstStyle>
            <a:lvl1pPr>
              <a:defRPr/>
            </a:lvl1pPr>
          </a:lstStyle>
          <a:p>
            <a:pPr>
              <a:defRPr/>
            </a:pPr>
            <a:fld id="{78400D6F-81A6-4CA0-8B3C-34372C62B661}" type="datetime1">
              <a:rPr lang="en-US"/>
              <a:pPr>
                <a:defRPr/>
              </a:pPr>
              <a:t>12/3/2025</a:t>
            </a:fld>
            <a:endParaRPr lang="en-US"/>
          </a:p>
        </p:txBody>
      </p:sp>
      <p:sp>
        <p:nvSpPr>
          <p:cNvPr id="5" name="Footer Placeholder 4">
            <a:extLst>
              <a:ext uri="{FF2B5EF4-FFF2-40B4-BE49-F238E27FC236}">
                <a16:creationId xmlns:a16="http://schemas.microsoft.com/office/drawing/2014/main" id="{B5E0F7A6-907E-418D-ABF6-CE0D106D2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36D880-0EA6-4FCD-A723-C393235639F8}"/>
              </a:ext>
            </a:extLst>
          </p:cNvPr>
          <p:cNvSpPr>
            <a:spLocks noGrp="1"/>
          </p:cNvSpPr>
          <p:nvPr>
            <p:ph type="sldNum" sz="quarter" idx="12"/>
          </p:nvPr>
        </p:nvSpPr>
        <p:spPr/>
        <p:txBody>
          <a:bodyPr/>
          <a:lstStyle>
            <a:lvl1pPr>
              <a:defRPr/>
            </a:lvl1pPr>
          </a:lstStyle>
          <a:p>
            <a:pPr>
              <a:defRPr/>
            </a:pPr>
            <a:fld id="{815EC703-C051-410C-8BA1-62752E291E83}" type="slidenum">
              <a:rPr lang="en-US" altLang="en-US"/>
              <a:pPr>
                <a:defRPr/>
              </a:pPr>
              <a:t>‹#›</a:t>
            </a:fld>
            <a:endParaRPr lang="en-US" altLang="en-US"/>
          </a:p>
        </p:txBody>
      </p:sp>
    </p:spTree>
    <p:extLst>
      <p:ext uri="{BB962C8B-B14F-4D97-AF65-F5344CB8AC3E}">
        <p14:creationId xmlns:p14="http://schemas.microsoft.com/office/powerpoint/2010/main" val="3859887381"/>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DAA96-8682-4C88-9622-87E036243D1F}"/>
              </a:ext>
            </a:extLst>
          </p:cNvPr>
          <p:cNvSpPr>
            <a:spLocks noGrp="1"/>
          </p:cNvSpPr>
          <p:nvPr>
            <p:ph type="dt" sz="half" idx="10"/>
          </p:nvPr>
        </p:nvSpPr>
        <p:spPr/>
        <p:txBody>
          <a:bodyPr/>
          <a:lstStyle>
            <a:lvl1pPr>
              <a:defRPr/>
            </a:lvl1pPr>
          </a:lstStyle>
          <a:p>
            <a:pPr>
              <a:defRPr/>
            </a:pPr>
            <a:fld id="{B63234D9-D072-4920-821D-BED01FCB7247}" type="datetime1">
              <a:rPr lang="en-US"/>
              <a:pPr>
                <a:defRPr/>
              </a:pPr>
              <a:t>12/3/2025</a:t>
            </a:fld>
            <a:endParaRPr lang="en-US"/>
          </a:p>
        </p:txBody>
      </p:sp>
      <p:sp>
        <p:nvSpPr>
          <p:cNvPr id="5" name="Footer Placeholder 4">
            <a:extLst>
              <a:ext uri="{FF2B5EF4-FFF2-40B4-BE49-F238E27FC236}">
                <a16:creationId xmlns:a16="http://schemas.microsoft.com/office/drawing/2014/main" id="{F4C29450-6172-4A34-B37F-64FAD195B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3A622E-84FA-417F-BD5A-BE81A4899820}"/>
              </a:ext>
            </a:extLst>
          </p:cNvPr>
          <p:cNvSpPr>
            <a:spLocks noGrp="1"/>
          </p:cNvSpPr>
          <p:nvPr>
            <p:ph type="sldNum" sz="quarter" idx="12"/>
          </p:nvPr>
        </p:nvSpPr>
        <p:spPr/>
        <p:txBody>
          <a:bodyPr/>
          <a:lstStyle>
            <a:lvl1pPr>
              <a:defRPr/>
            </a:lvl1pPr>
          </a:lstStyle>
          <a:p>
            <a:pPr>
              <a:defRPr/>
            </a:pPr>
            <a:fld id="{09A17B78-0E85-43B3-B804-1DD2F629C182}" type="slidenum">
              <a:rPr lang="en-US" altLang="en-US"/>
              <a:pPr>
                <a:defRPr/>
              </a:pPr>
              <a:t>‹#›</a:t>
            </a:fld>
            <a:endParaRPr lang="en-US" altLang="en-US"/>
          </a:p>
        </p:txBody>
      </p:sp>
    </p:spTree>
    <p:extLst>
      <p:ext uri="{BB962C8B-B14F-4D97-AF65-F5344CB8AC3E}">
        <p14:creationId xmlns:p14="http://schemas.microsoft.com/office/powerpoint/2010/main" val="3603603393"/>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0375BCC-EEE9-412B-A532-7314FE84B0C4}"/>
              </a:ext>
            </a:extLst>
          </p:cNvPr>
          <p:cNvSpPr>
            <a:spLocks noGrp="1"/>
          </p:cNvSpPr>
          <p:nvPr>
            <p:ph type="dt" sz="half" idx="10"/>
          </p:nvPr>
        </p:nvSpPr>
        <p:spPr/>
        <p:txBody>
          <a:bodyPr/>
          <a:lstStyle>
            <a:lvl1pPr>
              <a:defRPr/>
            </a:lvl1pPr>
          </a:lstStyle>
          <a:p>
            <a:pPr>
              <a:defRPr/>
            </a:pPr>
            <a:fld id="{74A9FD15-50EB-4E55-A7AC-5D569B5B3C80}" type="datetime1">
              <a:rPr lang="en-US"/>
              <a:pPr>
                <a:defRPr/>
              </a:pPr>
              <a:t>12/3/2025</a:t>
            </a:fld>
            <a:endParaRPr lang="en-US"/>
          </a:p>
        </p:txBody>
      </p:sp>
      <p:sp>
        <p:nvSpPr>
          <p:cNvPr id="6" name="Footer Placeholder 4">
            <a:extLst>
              <a:ext uri="{FF2B5EF4-FFF2-40B4-BE49-F238E27FC236}">
                <a16:creationId xmlns:a16="http://schemas.microsoft.com/office/drawing/2014/main" id="{1E5CB5DD-B599-4B4E-BFCE-CB9E35FBCE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CE3315-9445-4BB5-89D3-235E587ABF37}"/>
              </a:ext>
            </a:extLst>
          </p:cNvPr>
          <p:cNvSpPr>
            <a:spLocks noGrp="1"/>
          </p:cNvSpPr>
          <p:nvPr>
            <p:ph type="sldNum" sz="quarter" idx="12"/>
          </p:nvPr>
        </p:nvSpPr>
        <p:spPr/>
        <p:txBody>
          <a:bodyPr/>
          <a:lstStyle>
            <a:lvl1pPr>
              <a:defRPr/>
            </a:lvl1pPr>
          </a:lstStyle>
          <a:p>
            <a:pPr>
              <a:defRPr/>
            </a:pPr>
            <a:fld id="{010EC4D6-2A5D-45C1-86E3-8BE19A62D209}" type="slidenum">
              <a:rPr lang="en-US" altLang="en-US"/>
              <a:pPr>
                <a:defRPr/>
              </a:pPr>
              <a:t>‹#›</a:t>
            </a:fld>
            <a:endParaRPr lang="en-US" altLang="en-US"/>
          </a:p>
        </p:txBody>
      </p:sp>
    </p:spTree>
    <p:extLst>
      <p:ext uri="{BB962C8B-B14F-4D97-AF65-F5344CB8AC3E}">
        <p14:creationId xmlns:p14="http://schemas.microsoft.com/office/powerpoint/2010/main" val="2991645173"/>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530AD5EF-C609-4119-B375-3771413B48DE}"/>
              </a:ext>
            </a:extLst>
          </p:cNvPr>
          <p:cNvSpPr>
            <a:spLocks noGrp="1"/>
          </p:cNvSpPr>
          <p:nvPr>
            <p:ph type="dt" sz="half" idx="10"/>
          </p:nvPr>
        </p:nvSpPr>
        <p:spPr/>
        <p:txBody>
          <a:bodyPr/>
          <a:lstStyle>
            <a:lvl1pPr>
              <a:defRPr/>
            </a:lvl1pPr>
          </a:lstStyle>
          <a:p>
            <a:pPr>
              <a:defRPr/>
            </a:pPr>
            <a:fld id="{7C50B61E-D197-4188-943F-30B5936FC2F9}" type="datetime1">
              <a:rPr lang="en-US"/>
              <a:pPr>
                <a:defRPr/>
              </a:pPr>
              <a:t>12/3/2025</a:t>
            </a:fld>
            <a:endParaRPr lang="en-US"/>
          </a:p>
        </p:txBody>
      </p:sp>
      <p:sp>
        <p:nvSpPr>
          <p:cNvPr id="8" name="Footer Placeholder 4">
            <a:extLst>
              <a:ext uri="{FF2B5EF4-FFF2-40B4-BE49-F238E27FC236}">
                <a16:creationId xmlns:a16="http://schemas.microsoft.com/office/drawing/2014/main" id="{88A9EBF0-B7B0-4583-92AB-A3431DE6283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83BC57B-A7E4-4277-9D46-579496497245}"/>
              </a:ext>
            </a:extLst>
          </p:cNvPr>
          <p:cNvSpPr>
            <a:spLocks noGrp="1"/>
          </p:cNvSpPr>
          <p:nvPr>
            <p:ph type="sldNum" sz="quarter" idx="12"/>
          </p:nvPr>
        </p:nvSpPr>
        <p:spPr/>
        <p:txBody>
          <a:bodyPr/>
          <a:lstStyle>
            <a:lvl1pPr>
              <a:defRPr/>
            </a:lvl1pPr>
          </a:lstStyle>
          <a:p>
            <a:pPr>
              <a:defRPr/>
            </a:pPr>
            <a:fld id="{F7F6C894-F542-45DE-85A4-2725CE924991}" type="slidenum">
              <a:rPr lang="en-US" altLang="en-US"/>
              <a:pPr>
                <a:defRPr/>
              </a:pPr>
              <a:t>‹#›</a:t>
            </a:fld>
            <a:endParaRPr lang="en-US" altLang="en-US"/>
          </a:p>
        </p:txBody>
      </p:sp>
    </p:spTree>
    <p:extLst>
      <p:ext uri="{BB962C8B-B14F-4D97-AF65-F5344CB8AC3E}">
        <p14:creationId xmlns:p14="http://schemas.microsoft.com/office/powerpoint/2010/main" val="2670619855"/>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1D81C82-41E3-4C7D-816C-58F99A1702F2}"/>
              </a:ext>
            </a:extLst>
          </p:cNvPr>
          <p:cNvSpPr>
            <a:spLocks noGrp="1"/>
          </p:cNvSpPr>
          <p:nvPr>
            <p:ph type="dt" sz="half" idx="10"/>
          </p:nvPr>
        </p:nvSpPr>
        <p:spPr/>
        <p:txBody>
          <a:bodyPr/>
          <a:lstStyle>
            <a:lvl1pPr>
              <a:defRPr/>
            </a:lvl1pPr>
          </a:lstStyle>
          <a:p>
            <a:pPr>
              <a:defRPr/>
            </a:pPr>
            <a:fld id="{6BD41E7F-6671-4D2D-B6AD-20E102447CE3}" type="datetime1">
              <a:rPr lang="en-US"/>
              <a:pPr>
                <a:defRPr/>
              </a:pPr>
              <a:t>12/3/2025</a:t>
            </a:fld>
            <a:endParaRPr lang="en-US"/>
          </a:p>
        </p:txBody>
      </p:sp>
      <p:sp>
        <p:nvSpPr>
          <p:cNvPr id="4" name="Footer Placeholder 4">
            <a:extLst>
              <a:ext uri="{FF2B5EF4-FFF2-40B4-BE49-F238E27FC236}">
                <a16:creationId xmlns:a16="http://schemas.microsoft.com/office/drawing/2014/main" id="{21C23C57-193A-4FFE-AF84-5DDAD50453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00AA421-04F3-46DC-9A65-181848BF7FC6}"/>
              </a:ext>
            </a:extLst>
          </p:cNvPr>
          <p:cNvSpPr>
            <a:spLocks noGrp="1"/>
          </p:cNvSpPr>
          <p:nvPr>
            <p:ph type="sldNum" sz="quarter" idx="12"/>
          </p:nvPr>
        </p:nvSpPr>
        <p:spPr/>
        <p:txBody>
          <a:bodyPr/>
          <a:lstStyle>
            <a:lvl1pPr>
              <a:defRPr/>
            </a:lvl1pPr>
          </a:lstStyle>
          <a:p>
            <a:pPr>
              <a:defRPr/>
            </a:pPr>
            <a:fld id="{389318FD-4EEC-4C57-A972-0B24B85155E4}" type="slidenum">
              <a:rPr lang="en-US" altLang="en-US"/>
              <a:pPr>
                <a:defRPr/>
              </a:pPr>
              <a:t>‹#›</a:t>
            </a:fld>
            <a:endParaRPr lang="en-US" altLang="en-US"/>
          </a:p>
        </p:txBody>
      </p:sp>
    </p:spTree>
    <p:extLst>
      <p:ext uri="{BB962C8B-B14F-4D97-AF65-F5344CB8AC3E}">
        <p14:creationId xmlns:p14="http://schemas.microsoft.com/office/powerpoint/2010/main" val="187477540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218A1C0-5E86-44FA-96CE-D0C3A0911C5A}"/>
              </a:ext>
            </a:extLst>
          </p:cNvPr>
          <p:cNvSpPr>
            <a:spLocks noGrp="1"/>
          </p:cNvSpPr>
          <p:nvPr>
            <p:ph type="dt" sz="half" idx="10"/>
          </p:nvPr>
        </p:nvSpPr>
        <p:spPr/>
        <p:txBody>
          <a:bodyPr/>
          <a:lstStyle>
            <a:lvl1pPr>
              <a:defRPr/>
            </a:lvl1pPr>
          </a:lstStyle>
          <a:p>
            <a:pPr>
              <a:defRPr/>
            </a:pPr>
            <a:fld id="{FAE11748-68B0-424D-A128-8EE4A2F1567E}" type="datetime1">
              <a:rPr lang="en-US"/>
              <a:pPr>
                <a:defRPr/>
              </a:pPr>
              <a:t>12/3/2025</a:t>
            </a:fld>
            <a:endParaRPr lang="en-US"/>
          </a:p>
        </p:txBody>
      </p:sp>
      <p:sp>
        <p:nvSpPr>
          <p:cNvPr id="3" name="Footer Placeholder 4">
            <a:extLst>
              <a:ext uri="{FF2B5EF4-FFF2-40B4-BE49-F238E27FC236}">
                <a16:creationId xmlns:a16="http://schemas.microsoft.com/office/drawing/2014/main" id="{DC30598B-A85E-40F2-B0F9-CC04D8E3F3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0ADC7C-B221-49C5-9757-EBEBB0F9207F}"/>
              </a:ext>
            </a:extLst>
          </p:cNvPr>
          <p:cNvSpPr>
            <a:spLocks noGrp="1"/>
          </p:cNvSpPr>
          <p:nvPr>
            <p:ph type="sldNum" sz="quarter" idx="12"/>
          </p:nvPr>
        </p:nvSpPr>
        <p:spPr/>
        <p:txBody>
          <a:bodyPr/>
          <a:lstStyle>
            <a:lvl1pPr>
              <a:defRPr/>
            </a:lvl1pPr>
          </a:lstStyle>
          <a:p>
            <a:pPr>
              <a:defRPr/>
            </a:pPr>
            <a:fld id="{2F195F4C-44D2-4F45-A0AC-21646A9D27BF}" type="slidenum">
              <a:rPr lang="en-US" altLang="en-US"/>
              <a:pPr>
                <a:defRPr/>
              </a:pPr>
              <a:t>‹#›</a:t>
            </a:fld>
            <a:endParaRPr lang="en-US" altLang="en-US"/>
          </a:p>
        </p:txBody>
      </p:sp>
    </p:spTree>
    <p:extLst>
      <p:ext uri="{BB962C8B-B14F-4D97-AF65-F5344CB8AC3E}">
        <p14:creationId xmlns:p14="http://schemas.microsoft.com/office/powerpoint/2010/main" val="3579266658"/>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79DD4CF-015F-4F62-A63C-9D088FAC4792}"/>
              </a:ext>
            </a:extLst>
          </p:cNvPr>
          <p:cNvSpPr>
            <a:spLocks noGrp="1"/>
          </p:cNvSpPr>
          <p:nvPr>
            <p:ph type="dt" sz="half" idx="10"/>
          </p:nvPr>
        </p:nvSpPr>
        <p:spPr/>
        <p:txBody>
          <a:bodyPr/>
          <a:lstStyle>
            <a:lvl1pPr>
              <a:defRPr/>
            </a:lvl1pPr>
          </a:lstStyle>
          <a:p>
            <a:pPr>
              <a:defRPr/>
            </a:pPr>
            <a:fld id="{7094E8B7-7DCF-4AE2-ACBE-26DA6EBB7347}" type="datetime1">
              <a:rPr lang="en-US"/>
              <a:pPr>
                <a:defRPr/>
              </a:pPr>
              <a:t>12/3/2025</a:t>
            </a:fld>
            <a:endParaRPr lang="en-US"/>
          </a:p>
        </p:txBody>
      </p:sp>
      <p:sp>
        <p:nvSpPr>
          <p:cNvPr id="6" name="Footer Placeholder 4">
            <a:extLst>
              <a:ext uri="{FF2B5EF4-FFF2-40B4-BE49-F238E27FC236}">
                <a16:creationId xmlns:a16="http://schemas.microsoft.com/office/drawing/2014/main" id="{9F56518C-25E4-4791-80CF-9603927DE7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46B593C-043B-40F1-98DA-B1906E58EBEB}"/>
              </a:ext>
            </a:extLst>
          </p:cNvPr>
          <p:cNvSpPr>
            <a:spLocks noGrp="1"/>
          </p:cNvSpPr>
          <p:nvPr>
            <p:ph type="sldNum" sz="quarter" idx="12"/>
          </p:nvPr>
        </p:nvSpPr>
        <p:spPr/>
        <p:txBody>
          <a:bodyPr/>
          <a:lstStyle>
            <a:lvl1pPr>
              <a:defRPr/>
            </a:lvl1pPr>
          </a:lstStyle>
          <a:p>
            <a:pPr>
              <a:defRPr/>
            </a:pPr>
            <a:fld id="{7CD429D7-E526-4101-969E-B40B8D8E48CC}" type="slidenum">
              <a:rPr lang="en-US" altLang="en-US"/>
              <a:pPr>
                <a:defRPr/>
              </a:pPr>
              <a:t>‹#›</a:t>
            </a:fld>
            <a:endParaRPr lang="en-US" altLang="en-US"/>
          </a:p>
        </p:txBody>
      </p:sp>
    </p:spTree>
    <p:extLst>
      <p:ext uri="{BB962C8B-B14F-4D97-AF65-F5344CB8AC3E}">
        <p14:creationId xmlns:p14="http://schemas.microsoft.com/office/powerpoint/2010/main" val="3478220043"/>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B5A9D87-E05A-4D16-A703-1E97A8BA2C34}"/>
              </a:ext>
            </a:extLst>
          </p:cNvPr>
          <p:cNvSpPr>
            <a:spLocks noGrp="1"/>
          </p:cNvSpPr>
          <p:nvPr>
            <p:ph type="dt" sz="half" idx="10"/>
          </p:nvPr>
        </p:nvSpPr>
        <p:spPr/>
        <p:txBody>
          <a:bodyPr/>
          <a:lstStyle>
            <a:lvl1pPr>
              <a:defRPr/>
            </a:lvl1pPr>
          </a:lstStyle>
          <a:p>
            <a:pPr>
              <a:defRPr/>
            </a:pPr>
            <a:fld id="{A58AEAC7-C2C3-44AF-AB2E-36A1774D5378}" type="datetime1">
              <a:rPr lang="en-US"/>
              <a:pPr>
                <a:defRPr/>
              </a:pPr>
              <a:t>12/3/2025</a:t>
            </a:fld>
            <a:endParaRPr lang="en-US"/>
          </a:p>
        </p:txBody>
      </p:sp>
      <p:sp>
        <p:nvSpPr>
          <p:cNvPr id="6" name="Footer Placeholder 4">
            <a:extLst>
              <a:ext uri="{FF2B5EF4-FFF2-40B4-BE49-F238E27FC236}">
                <a16:creationId xmlns:a16="http://schemas.microsoft.com/office/drawing/2014/main" id="{50E92F1C-94F6-478A-96CC-20CEB3BF82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1659F05-47D4-46F4-A7AC-A02AE18D3546}"/>
              </a:ext>
            </a:extLst>
          </p:cNvPr>
          <p:cNvSpPr>
            <a:spLocks noGrp="1"/>
          </p:cNvSpPr>
          <p:nvPr>
            <p:ph type="sldNum" sz="quarter" idx="12"/>
          </p:nvPr>
        </p:nvSpPr>
        <p:spPr/>
        <p:txBody>
          <a:bodyPr/>
          <a:lstStyle>
            <a:lvl1pPr>
              <a:defRPr/>
            </a:lvl1pPr>
          </a:lstStyle>
          <a:p>
            <a:pPr>
              <a:defRPr/>
            </a:pPr>
            <a:fld id="{D66FD7F1-16F9-4E12-83AD-C4245146BA57}" type="slidenum">
              <a:rPr lang="en-US" altLang="en-US"/>
              <a:pPr>
                <a:defRPr/>
              </a:pPr>
              <a:t>‹#›</a:t>
            </a:fld>
            <a:endParaRPr lang="en-US" altLang="en-US"/>
          </a:p>
        </p:txBody>
      </p:sp>
    </p:spTree>
    <p:extLst>
      <p:ext uri="{BB962C8B-B14F-4D97-AF65-F5344CB8AC3E}">
        <p14:creationId xmlns:p14="http://schemas.microsoft.com/office/powerpoint/2010/main" val="199937066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A0AAE25-87DE-4998-B6CE-F47978987C8B}"/>
              </a:ext>
            </a:extLst>
          </p:cNvPr>
          <p:cNvSpPr>
            <a:spLocks noGrp="1"/>
          </p:cNvSpPr>
          <p:nvPr>
            <p:ph type="dt" sz="half" idx="10"/>
          </p:nvPr>
        </p:nvSpPr>
        <p:spPr/>
        <p:txBody>
          <a:bodyPr/>
          <a:lstStyle>
            <a:lvl1pPr>
              <a:defRPr/>
            </a:lvl1pPr>
          </a:lstStyle>
          <a:p>
            <a:pPr>
              <a:defRPr/>
            </a:pPr>
            <a:fld id="{E702336F-006F-49C3-8FF0-2416E12056BA}" type="datetime1">
              <a:rPr lang="en-US"/>
              <a:pPr>
                <a:defRPr/>
              </a:pPr>
              <a:t>12/3/2025</a:t>
            </a:fld>
            <a:endParaRPr lang="en-US"/>
          </a:p>
        </p:txBody>
      </p:sp>
      <p:sp>
        <p:nvSpPr>
          <p:cNvPr id="5" name="Footer Placeholder 4">
            <a:extLst>
              <a:ext uri="{FF2B5EF4-FFF2-40B4-BE49-F238E27FC236}">
                <a16:creationId xmlns:a16="http://schemas.microsoft.com/office/drawing/2014/main" id="{B0A9861B-6D3E-4215-A3D0-377EC12DA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C5A02C-FFC9-401E-8BCD-D06F65B1664C}"/>
              </a:ext>
            </a:extLst>
          </p:cNvPr>
          <p:cNvSpPr>
            <a:spLocks noGrp="1"/>
          </p:cNvSpPr>
          <p:nvPr>
            <p:ph type="sldNum" sz="quarter" idx="12"/>
          </p:nvPr>
        </p:nvSpPr>
        <p:spPr/>
        <p:txBody>
          <a:bodyPr/>
          <a:lstStyle>
            <a:lvl1pPr>
              <a:defRPr/>
            </a:lvl1pPr>
          </a:lstStyle>
          <a:p>
            <a:pPr>
              <a:defRPr/>
            </a:pPr>
            <a:fld id="{F3CA2AFE-CAB8-4467-80DC-C3A4FC1E2718}" type="slidenum">
              <a:rPr lang="en-US" altLang="en-US"/>
              <a:pPr>
                <a:defRPr/>
              </a:pPr>
              <a:t>‹#›</a:t>
            </a:fld>
            <a:endParaRPr lang="en-US" altLang="en-US"/>
          </a:p>
        </p:txBody>
      </p:sp>
    </p:spTree>
    <p:extLst>
      <p:ext uri="{BB962C8B-B14F-4D97-AF65-F5344CB8AC3E}">
        <p14:creationId xmlns:p14="http://schemas.microsoft.com/office/powerpoint/2010/main" val="766143411"/>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64B4638-3310-4031-B55D-BE295B1A7BDC}"/>
              </a:ext>
            </a:extLst>
          </p:cNvPr>
          <p:cNvSpPr>
            <a:spLocks noGrp="1"/>
          </p:cNvSpPr>
          <p:nvPr>
            <p:ph type="dt" sz="half" idx="10"/>
          </p:nvPr>
        </p:nvSpPr>
        <p:spPr/>
        <p:txBody>
          <a:bodyPr/>
          <a:lstStyle>
            <a:lvl1pPr>
              <a:defRPr/>
            </a:lvl1pPr>
          </a:lstStyle>
          <a:p>
            <a:pPr>
              <a:defRPr/>
            </a:pPr>
            <a:fld id="{8C683BFA-96BB-4329-BF2F-32F59AFA4E79}" type="datetime1">
              <a:rPr lang="en-US"/>
              <a:pPr>
                <a:defRPr/>
              </a:pPr>
              <a:t>12/3/2025</a:t>
            </a:fld>
            <a:endParaRPr lang="en-US"/>
          </a:p>
        </p:txBody>
      </p:sp>
      <p:sp>
        <p:nvSpPr>
          <p:cNvPr id="5" name="Footer Placeholder 4">
            <a:extLst>
              <a:ext uri="{FF2B5EF4-FFF2-40B4-BE49-F238E27FC236}">
                <a16:creationId xmlns:a16="http://schemas.microsoft.com/office/drawing/2014/main" id="{9BF7728E-C01A-4686-AD71-F7B61E8209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C71C28-1E00-4F0A-8B9D-A0E460685EFB}"/>
              </a:ext>
            </a:extLst>
          </p:cNvPr>
          <p:cNvSpPr>
            <a:spLocks noGrp="1"/>
          </p:cNvSpPr>
          <p:nvPr>
            <p:ph type="sldNum" sz="quarter" idx="12"/>
          </p:nvPr>
        </p:nvSpPr>
        <p:spPr/>
        <p:txBody>
          <a:bodyPr/>
          <a:lstStyle>
            <a:lvl1pPr>
              <a:defRPr/>
            </a:lvl1pPr>
          </a:lstStyle>
          <a:p>
            <a:pPr>
              <a:defRPr/>
            </a:pPr>
            <a:fld id="{3DDD8426-6957-4B5B-B927-2BE994D1B7C1}" type="slidenum">
              <a:rPr lang="en-US" altLang="en-US"/>
              <a:pPr>
                <a:defRPr/>
              </a:pPr>
              <a:t>‹#›</a:t>
            </a:fld>
            <a:endParaRPr lang="en-US" altLang="en-US"/>
          </a:p>
        </p:txBody>
      </p:sp>
    </p:spTree>
    <p:extLst>
      <p:ext uri="{BB962C8B-B14F-4D97-AF65-F5344CB8AC3E}">
        <p14:creationId xmlns:p14="http://schemas.microsoft.com/office/powerpoint/2010/main" val="289399607"/>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A3E1B4-65C6-415A-9681-D05B402B0E8D}"/>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566853-DAEB-4CB7-818F-723C37230FE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04BD739-9829-4F69-BC53-75013DDD1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pPr>
                <a:defRPr/>
              </a:pPr>
              <a:t>12/3/2025</a:t>
            </a:fld>
            <a:endParaRPr lang="en-US"/>
          </a:p>
        </p:txBody>
      </p:sp>
      <p:sp>
        <p:nvSpPr>
          <p:cNvPr id="5" name="Footer Placeholder 4">
            <a:extLst>
              <a:ext uri="{FF2B5EF4-FFF2-40B4-BE49-F238E27FC236}">
                <a16:creationId xmlns:a16="http://schemas.microsoft.com/office/drawing/2014/main" id="{505F0A4C-9308-45AA-A1AA-7B038DC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142AE0DB-89DF-4A35-9269-9E85DEA2E36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BF7CE3-29D9-4203-A481-45960E76618F}" type="slidenum">
              <a:rPr lang="en-US" altLang="en-US"/>
              <a:pPr>
                <a:defRPr/>
              </a:pPr>
              <a:t>‹#›</a:t>
            </a:fld>
            <a:endParaRPr lang="en-US" altLang="en-US"/>
          </a:p>
        </p:txBody>
      </p:sp>
      <p:pic>
        <p:nvPicPr>
          <p:cNvPr id="1031" name="Picture 7">
            <a:extLst>
              <a:ext uri="{FF2B5EF4-FFF2-40B4-BE49-F238E27FC236}">
                <a16:creationId xmlns:a16="http://schemas.microsoft.com/office/drawing/2014/main" id="{102663E2-6C69-49E4-9FEB-A0ED3DD955F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29"/>
            <a:ext cx="10515600" cy="1560060"/>
          </a:xfrm>
        </p:spPr>
        <p:txBody>
          <a:bodyPr/>
          <a:lstStyle/>
          <a:p>
            <a:pPr algn="ctr"/>
            <a:r>
              <a:rPr lang="en-IN" altLang="en-US" sz="2800" b="1" dirty="0">
                <a:solidFill>
                  <a:srgbClr val="FF0000"/>
                </a:solidFill>
                <a:latin typeface="Times New Roman" panose="02020603050405020304" pitchFamily="18" charset="0"/>
                <a:cs typeface="Times New Roman" panose="02020603050405020304" pitchFamily="18" charset="0"/>
              </a:rPr>
              <a:t>Capstone Project- (CSE7101) </a:t>
            </a:r>
            <a:br>
              <a:rPr lang="en-IN" sz="2800" b="1" dirty="0">
                <a:solidFill>
                  <a:srgbClr val="FF0000"/>
                </a:solidFill>
                <a:latin typeface="Times New Roman" panose="02020603050405020304" pitchFamily="18" charset="0"/>
                <a:cs typeface="Times New Roman" panose="02020603050405020304" pitchFamily="18" charset="0"/>
              </a:rPr>
            </a:br>
            <a:r>
              <a:rPr lang="en-US" sz="2400" b="1" dirty="0">
                <a:solidFill>
                  <a:srgbClr val="0070C0"/>
                </a:solidFill>
                <a:latin typeface="Times New Roman" panose="02020603050405020304" pitchFamily="18" charset="0"/>
                <a:ea typeface="Tahoma" pitchFamily="34" charset="0"/>
                <a:cs typeface="Times New Roman" panose="02020603050405020304" pitchFamily="18" charset="0"/>
              </a:rPr>
              <a:t>Final Review Presentation </a:t>
            </a:r>
            <a:br>
              <a:rPr lang="en-US" sz="2400" b="1"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b="1" dirty="0">
                <a:solidFill>
                  <a:srgbClr val="0070C0"/>
                </a:solidFill>
                <a:latin typeface="Times New Roman" panose="02020603050405020304" pitchFamily="18" charset="0"/>
                <a:ea typeface="Tahoma" pitchFamily="34" charset="0"/>
                <a:cs typeface="Times New Roman" panose="02020603050405020304" pitchFamily="18" charset="0"/>
              </a:rPr>
              <a:t>Non-Invasive Skin disease Detection Using Hyper Spectral Imaging</a:t>
            </a:r>
            <a:br>
              <a:rPr lang="en-US" sz="2400" b="1" dirty="0">
                <a:solidFill>
                  <a:srgbClr val="0070C0"/>
                </a:solidFill>
                <a:latin typeface="Times New Roman" panose="02020603050405020304" pitchFamily="18" charset="0"/>
                <a:ea typeface="Tahoma" pitchFamily="34" charset="0"/>
                <a:cs typeface="Times New Roman" panose="02020603050405020304" pitchFamily="18" charset="0"/>
              </a:rPr>
            </a:br>
            <a:br>
              <a:rPr lang="en-US" sz="2400" b="1"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37230"/>
            <a:ext cx="10515600" cy="4661672"/>
          </a:xfrm>
        </p:spPr>
        <p:txBody>
          <a:bodyPr/>
          <a:lstStyle/>
          <a:p>
            <a:pPr marL="0" indent="0" algn="ctr">
              <a:buNone/>
            </a:pPr>
            <a:r>
              <a:rPr lang="en-US" sz="1400" b="1" dirty="0">
                <a:solidFill>
                  <a:schemeClr val="accent6">
                    <a:lumMod val="75000"/>
                  </a:schemeClr>
                </a:solidFill>
                <a:latin typeface="Times New Roman" panose="02020603050405020304" pitchFamily="18" charset="0"/>
                <a:cs typeface="Times New Roman" panose="02020603050405020304" pitchFamily="18" charset="0"/>
              </a:rPr>
              <a:t>By</a:t>
            </a:r>
          </a:p>
          <a:p>
            <a:pPr marL="0" indent="0" algn="ctr">
              <a:buNone/>
            </a:pPr>
            <a:r>
              <a:rPr lang="en-US" sz="1800" b="1" dirty="0">
                <a:solidFill>
                  <a:srgbClr val="FF0000"/>
                </a:solidFill>
                <a:latin typeface="Times New Roman" panose="02020603050405020304" pitchFamily="18" charset="0"/>
                <a:cs typeface="Times New Roman" panose="02020603050405020304" pitchFamily="18" charset="0"/>
              </a:rPr>
              <a:t>CSD_3</a:t>
            </a:r>
          </a:p>
          <a:p>
            <a:pPr marL="0" indent="0" algn="ctr">
              <a:buNone/>
            </a:pPr>
            <a:endParaRPr lang="en-US" sz="1400" b="1"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ctr">
              <a:buNone/>
            </a:pPr>
            <a:endParaRPr lang="en-US" sz="1800" b="1" dirty="0">
              <a:solidFill>
                <a:schemeClr val="accent6">
                  <a:lumMod val="75000"/>
                </a:schemeClr>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lgn="ctr" eaLnBrk="1" hangingPunct="1">
              <a:buNone/>
              <a:defRPr/>
            </a:pPr>
            <a:endParaRPr lang="en-IN" sz="1400" b="1" dirty="0">
              <a:latin typeface="Times New Roman" panose="02020603050405020304" pitchFamily="18" charset="0"/>
              <a:cs typeface="Times New Roman" panose="02020603050405020304" pitchFamily="18" charset="0"/>
            </a:endParaRPr>
          </a:p>
          <a:p>
            <a:pPr marL="0" indent="0" algn="ctr" eaLnBrk="1" hangingPunct="1">
              <a:buNone/>
              <a:defRPr/>
            </a:pPr>
            <a:br>
              <a:rPr lang="en-IN" sz="1100" b="1" dirty="0">
                <a:solidFill>
                  <a:srgbClr val="C00000"/>
                </a:solidFill>
                <a:latin typeface="Times New Roman" panose="02020603050405020304" pitchFamily="18" charset="0"/>
                <a:cs typeface="Times New Roman" panose="02020603050405020304" pitchFamily="18" charset="0"/>
              </a:rPr>
            </a:br>
            <a:r>
              <a:rPr lang="en-US" sz="1400" b="1" dirty="0">
                <a:solidFill>
                  <a:srgbClr val="002060"/>
                </a:solidFill>
                <a:latin typeface="Times New Roman" panose="02020603050405020304" pitchFamily="18" charset="0"/>
                <a:cs typeface="Times New Roman" panose="02020603050405020304" pitchFamily="18" charset="0"/>
              </a:rPr>
              <a:t>Under the supervision of</a:t>
            </a:r>
          </a:p>
          <a:p>
            <a:pPr marL="0" indent="0" algn="ctr" eaLnBrk="1" hangingPunct="1">
              <a:buNone/>
              <a:defRPr/>
            </a:pPr>
            <a:r>
              <a:rPr lang="en-US" sz="1400" b="1" dirty="0" err="1">
                <a:solidFill>
                  <a:srgbClr val="002060"/>
                </a:solidFill>
                <a:latin typeface="Times New Roman" panose="02020603050405020304" pitchFamily="18" charset="0"/>
                <a:cs typeface="Times New Roman" panose="02020603050405020304" pitchFamily="18" charset="0"/>
              </a:rPr>
              <a:t>Dr.Madhusudhan</a:t>
            </a:r>
            <a:r>
              <a:rPr lang="en-US" sz="1400" b="1" dirty="0">
                <a:solidFill>
                  <a:srgbClr val="002060"/>
                </a:solidFill>
                <a:latin typeface="Times New Roman" panose="02020603050405020304" pitchFamily="18" charset="0"/>
                <a:cs typeface="Times New Roman" panose="02020603050405020304" pitchFamily="18" charset="0"/>
              </a:rPr>
              <a:t> M V</a:t>
            </a:r>
          </a:p>
          <a:p>
            <a:pPr marL="0" indent="0" algn="ctr" eaLnBrk="1" hangingPunct="1">
              <a:buNone/>
              <a:defRPr/>
            </a:pPr>
            <a:endParaRPr lang="en-IN" sz="2400" b="1" dirty="0">
              <a:solidFill>
                <a:srgbClr val="FF3300"/>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4477871" y="3622114"/>
            <a:ext cx="2743200" cy="365125"/>
          </a:xfrm>
        </p:spPr>
        <p:txBody>
          <a:bodyPr/>
          <a:lstStyle/>
          <a:p>
            <a:pPr>
              <a:defRPr/>
            </a:pPr>
            <a:fld id="{815EC703-C051-410C-8BA1-62752E291E83}" type="slidenum">
              <a:rPr lang="en-US" altLang="en-US" smtClean="0"/>
              <a:pPr>
                <a:defRPr/>
              </a:pPr>
              <a:t>1</a:t>
            </a:fld>
            <a:endParaRPr lang="en-US" altLang="en-US"/>
          </a:p>
        </p:txBody>
      </p:sp>
      <p:graphicFrame>
        <p:nvGraphicFramePr>
          <p:cNvPr id="5" name="Table 4"/>
          <p:cNvGraphicFramePr>
            <a:graphicFrameLocks noGrp="1"/>
          </p:cNvGraphicFramePr>
          <p:nvPr>
            <p:extLst>
              <p:ext uri="{D42A27DB-BD31-4B8C-83A1-F6EECF244321}">
                <p14:modId xmlns:p14="http://schemas.microsoft.com/office/powerpoint/2010/main" val="947568795"/>
              </p:ext>
            </p:extLst>
          </p:nvPr>
        </p:nvGraphicFramePr>
        <p:xfrm>
          <a:off x="3973402" y="1935886"/>
          <a:ext cx="4245196" cy="1463040"/>
        </p:xfrm>
        <a:graphic>
          <a:graphicData uri="http://schemas.openxmlformats.org/drawingml/2006/table">
            <a:tbl>
              <a:tblPr firstRow="1" bandRow="1">
                <a:tableStyleId>{5C22544A-7EE6-4342-B048-85BDC9FD1C3A}</a:tableStyleId>
              </a:tblPr>
              <a:tblGrid>
                <a:gridCol w="2122598">
                  <a:extLst>
                    <a:ext uri="{9D8B030D-6E8A-4147-A177-3AD203B41FA5}">
                      <a16:colId xmlns:a16="http://schemas.microsoft.com/office/drawing/2014/main" val="2689928737"/>
                    </a:ext>
                  </a:extLst>
                </a:gridCol>
                <a:gridCol w="2122598">
                  <a:extLst>
                    <a:ext uri="{9D8B030D-6E8A-4147-A177-3AD203B41FA5}">
                      <a16:colId xmlns:a16="http://schemas.microsoft.com/office/drawing/2014/main" val="3965538731"/>
                    </a:ext>
                  </a:extLst>
                </a:gridCol>
              </a:tblGrid>
              <a:tr h="359939">
                <a:tc>
                  <a:txBody>
                    <a:bodyPr/>
                    <a:lstStyle/>
                    <a:p>
                      <a:pPr algn="ctr"/>
                      <a:r>
                        <a:rPr lang="en-US" dirty="0"/>
                        <a:t>NAME</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t>ROLL</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97769404"/>
                  </a:ext>
                </a:extLst>
              </a:tr>
              <a:tr h="359939">
                <a:tc>
                  <a:txBody>
                    <a:bodyPr/>
                    <a:lstStyle/>
                    <a:p>
                      <a:pPr algn="ctr"/>
                      <a:r>
                        <a:rPr lang="en-US" dirty="0">
                          <a:latin typeface="Times New Roman" panose="02020603050405020304" pitchFamily="18" charset="0"/>
                          <a:cs typeface="Times New Roman" panose="02020603050405020304" pitchFamily="18" charset="0"/>
                        </a:rPr>
                        <a:t>AKHIL SANJAY</a:t>
                      </a:r>
                    </a:p>
                  </a:txBody>
                  <a:tcPr/>
                </a:tc>
                <a:tc>
                  <a:txBody>
                    <a:bodyPr/>
                    <a:lstStyle/>
                    <a:p>
                      <a:pPr algn="ctr"/>
                      <a:r>
                        <a:rPr lang="en-US" dirty="0">
                          <a:latin typeface="Times New Roman" panose="02020603050405020304" pitchFamily="18" charset="0"/>
                          <a:cs typeface="Times New Roman" panose="02020603050405020304" pitchFamily="18" charset="0"/>
                        </a:rPr>
                        <a:t>20221CSD0067</a:t>
                      </a:r>
                    </a:p>
                  </a:txBody>
                  <a:tcPr/>
                </a:tc>
                <a:extLst>
                  <a:ext uri="{0D108BD9-81ED-4DB2-BD59-A6C34878D82A}">
                    <a16:rowId xmlns:a16="http://schemas.microsoft.com/office/drawing/2014/main" val="2934066087"/>
                  </a:ext>
                </a:extLst>
              </a:tr>
              <a:tr h="359939">
                <a:tc>
                  <a:txBody>
                    <a:bodyPr/>
                    <a:lstStyle/>
                    <a:p>
                      <a:pPr algn="ctr"/>
                      <a:r>
                        <a:rPr lang="en-US" dirty="0">
                          <a:latin typeface="Times New Roman" panose="02020603050405020304" pitchFamily="18" charset="0"/>
                          <a:cs typeface="Times New Roman" panose="02020603050405020304" pitchFamily="18" charset="0"/>
                        </a:rPr>
                        <a:t>S ARSHIYA</a:t>
                      </a:r>
                    </a:p>
                  </a:txBody>
                  <a:tcPr/>
                </a:tc>
                <a:tc>
                  <a:txBody>
                    <a:bodyPr/>
                    <a:lstStyle/>
                    <a:p>
                      <a:pPr algn="ctr"/>
                      <a:r>
                        <a:rPr lang="en-US" dirty="0">
                          <a:latin typeface="Times New Roman" panose="02020603050405020304" pitchFamily="18" charset="0"/>
                          <a:cs typeface="Times New Roman" panose="02020603050405020304" pitchFamily="18" charset="0"/>
                        </a:rPr>
                        <a:t>20221CSD0129</a:t>
                      </a:r>
                    </a:p>
                  </a:txBody>
                  <a:tcPr/>
                </a:tc>
                <a:extLst>
                  <a:ext uri="{0D108BD9-81ED-4DB2-BD59-A6C34878D82A}">
                    <a16:rowId xmlns:a16="http://schemas.microsoft.com/office/drawing/2014/main" val="2965105319"/>
                  </a:ext>
                </a:extLst>
              </a:tr>
              <a:tr h="359939">
                <a:tc>
                  <a:txBody>
                    <a:bodyPr/>
                    <a:lstStyle/>
                    <a:p>
                      <a:pPr algn="ctr"/>
                      <a:r>
                        <a:rPr lang="en-US" dirty="0">
                          <a:latin typeface="Times New Roman" panose="02020603050405020304" pitchFamily="18" charset="0"/>
                          <a:cs typeface="Times New Roman" panose="02020603050405020304" pitchFamily="18" charset="0"/>
                        </a:rPr>
                        <a:t>JILPHA SUSMITH</a:t>
                      </a:r>
                    </a:p>
                  </a:txBody>
                  <a:tcPr/>
                </a:tc>
                <a:tc>
                  <a:txBody>
                    <a:bodyPr/>
                    <a:lstStyle/>
                    <a:p>
                      <a:pPr algn="ctr"/>
                      <a:r>
                        <a:rPr lang="en-US" dirty="0">
                          <a:latin typeface="Times New Roman" panose="02020603050405020304" pitchFamily="18" charset="0"/>
                          <a:cs typeface="Times New Roman" panose="02020603050405020304" pitchFamily="18" charset="0"/>
                        </a:rPr>
                        <a:t>20221CSD0066</a:t>
                      </a:r>
                    </a:p>
                  </a:txBody>
                  <a:tcPr/>
                </a:tc>
                <a:extLst>
                  <a:ext uri="{0D108BD9-81ED-4DB2-BD59-A6C34878D82A}">
                    <a16:rowId xmlns:a16="http://schemas.microsoft.com/office/drawing/2014/main" val="673540802"/>
                  </a:ext>
                </a:extLst>
              </a:tr>
            </a:tbl>
          </a:graphicData>
        </a:graphic>
      </p:graphicFrame>
    </p:spTree>
    <p:extLst>
      <p:ext uri="{BB962C8B-B14F-4D97-AF65-F5344CB8AC3E}">
        <p14:creationId xmlns:p14="http://schemas.microsoft.com/office/powerpoint/2010/main" val="947468273"/>
      </p:ext>
    </p:extLst>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109" y="105808"/>
            <a:ext cx="11173691" cy="656192"/>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Project Objective</a:t>
            </a:r>
          </a:p>
        </p:txBody>
      </p:sp>
      <p:sp>
        <p:nvSpPr>
          <p:cNvPr id="3" name="Content Placeholder 2"/>
          <p:cNvSpPr>
            <a:spLocks noGrp="1"/>
          </p:cNvSpPr>
          <p:nvPr>
            <p:ph idx="1"/>
          </p:nvPr>
        </p:nvSpPr>
        <p:spPr>
          <a:xfrm>
            <a:off x="353291" y="720436"/>
            <a:ext cx="10515600" cy="4727286"/>
          </a:xfrm>
        </p:spPr>
        <p:txBody>
          <a:bodyPr/>
          <a:lstStyle/>
          <a:p>
            <a:pPr marL="0" indent="0">
              <a:buNone/>
            </a:pPr>
            <a:r>
              <a:rPr lang="en-US" dirty="0"/>
              <a:t>The primary objective of this project is to develop a non-invasive diagnostic system that utilizes hyperspectral imaging (HSI) technology for detecting and classifying skin diseases. Conventional diagnostic procedures for skin conditions often involve invasive biopsies, which can be uncomfortable, time-consuming, and sometimes unnecessary. This project aims to leverage HSI’s capability to capture detailed spectral information from skin tissue, enabling early and accurate detection without physical intervention. The system will be designed to identify spectral signatures specific to different skin diseases, including malignant melanoma, benign nevi, and inflammatory conditions.</a:t>
            </a:r>
            <a:endParaRPr lang="en-US"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a:t>
            </a:fld>
            <a:endParaRPr lang="en-US" altLang="en-US"/>
          </a:p>
        </p:txBody>
      </p:sp>
    </p:spTree>
    <p:extLst>
      <p:ext uri="{BB962C8B-B14F-4D97-AF65-F5344CB8AC3E}">
        <p14:creationId xmlns:p14="http://schemas.microsoft.com/office/powerpoint/2010/main" val="816428933"/>
      </p:ext>
    </p:extLst>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529D9-504B-7D64-A157-856E126EDE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2EA8E-0C88-F46E-7533-E94A04113E5F}"/>
              </a:ext>
            </a:extLst>
          </p:cNvPr>
          <p:cNvSpPr>
            <a:spLocks noGrp="1"/>
          </p:cNvSpPr>
          <p:nvPr>
            <p:ph type="title"/>
          </p:nvPr>
        </p:nvSpPr>
        <p:spPr>
          <a:xfrm>
            <a:off x="180109" y="105808"/>
            <a:ext cx="11173691" cy="656192"/>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Project Objective</a:t>
            </a:r>
          </a:p>
        </p:txBody>
      </p:sp>
      <p:sp>
        <p:nvSpPr>
          <p:cNvPr id="3" name="Content Placeholder 2">
            <a:extLst>
              <a:ext uri="{FF2B5EF4-FFF2-40B4-BE49-F238E27FC236}">
                <a16:creationId xmlns:a16="http://schemas.microsoft.com/office/drawing/2014/main" id="{85F3CDB3-ACB5-6955-9DD9-9F1D026E39E5}"/>
              </a:ext>
            </a:extLst>
          </p:cNvPr>
          <p:cNvSpPr>
            <a:spLocks noGrp="1"/>
          </p:cNvSpPr>
          <p:nvPr>
            <p:ph idx="1"/>
          </p:nvPr>
        </p:nvSpPr>
        <p:spPr>
          <a:xfrm>
            <a:off x="353291" y="720436"/>
            <a:ext cx="10515600" cy="4727286"/>
          </a:xfrm>
        </p:spPr>
        <p:txBody>
          <a:bodyPr/>
          <a:lstStyle/>
          <a:p>
            <a:pPr marL="0" indent="0">
              <a:buNone/>
            </a:pPr>
            <a:r>
              <a:rPr lang="en-US" dirty="0"/>
              <a:t> Implementation of Advanced Machine Learning Models for Analysis</a:t>
            </a:r>
          </a:p>
          <a:p>
            <a:pPr marL="0" indent="0">
              <a:buNone/>
            </a:pPr>
            <a:r>
              <a:rPr lang="en-US" dirty="0"/>
              <a:t>To accurately analyze the vast and complex hyperspectral data, the project will implement advanced machine learning techniques, including deep learning architectures and traditional classifiers. These models will be trained to extract relevant features from the hyperspectral bands, perform lesion segmentation, and classify the disease types based on their unique spectral and spatial characteristics. The objective includes optimizing algorithms to improve classification accuracy and to handle challenges such as spectral noise and overlapping features between different skin conditions.</a:t>
            </a:r>
          </a:p>
        </p:txBody>
      </p:sp>
      <p:sp>
        <p:nvSpPr>
          <p:cNvPr id="4" name="Slide Number Placeholder 3">
            <a:extLst>
              <a:ext uri="{FF2B5EF4-FFF2-40B4-BE49-F238E27FC236}">
                <a16:creationId xmlns:a16="http://schemas.microsoft.com/office/drawing/2014/main" id="{502B7B25-DE02-BF04-3BDC-EDA6A0826B94}"/>
              </a:ext>
            </a:extLst>
          </p:cNvPr>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145540417"/>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Background</a:t>
            </a: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a:t>Skin diseases, including malignancies like melanoma, represent a major public health concern worldwide. Early and accurate diagnosis is critical to improving treatment outcomes and survival rates, particularly for skin cancer. Traditional diagnostic approaches rely heavily on visual examination by dermatologists and invasive biopsy procedures for histopathological confirmation. However, these methods have limitations: visual inspection can be subjective and biopsy is invasive, costly, and time-consuming.</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103887700"/>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2E710-B130-0FAB-BEB9-4F97CBD8F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92B76-E5DA-FDBF-A74C-363A0F6D82C7}"/>
              </a:ext>
            </a:extLst>
          </p:cNvPr>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Background</a:t>
            </a:r>
          </a:p>
        </p:txBody>
      </p:sp>
      <p:sp>
        <p:nvSpPr>
          <p:cNvPr id="3" name="Content Placeholder 2">
            <a:extLst>
              <a:ext uri="{FF2B5EF4-FFF2-40B4-BE49-F238E27FC236}">
                <a16:creationId xmlns:a16="http://schemas.microsoft.com/office/drawing/2014/main" id="{013600E0-2847-1699-2A3C-EFD9D9560A39}"/>
              </a:ext>
            </a:extLst>
          </p:cNvPr>
          <p:cNvSpPr>
            <a:spLocks noGrp="1"/>
          </p:cNvSpPr>
          <p:nvPr>
            <p:ph idx="1"/>
          </p:nvPr>
        </p:nvSpPr>
        <p:spPr>
          <a:xfrm>
            <a:off x="838200" y="1184367"/>
            <a:ext cx="10515600" cy="4058194"/>
          </a:xfrm>
        </p:spPr>
        <p:txBody>
          <a:bodyPr/>
          <a:lstStyle/>
          <a:p>
            <a:pPr marL="0" indent="0">
              <a:buNone/>
            </a:pPr>
            <a:r>
              <a:rPr lang="en-US" dirty="0"/>
              <a:t>Non-invasive imaging techniques have emerged as promising alternatives to traditional methods. Among these, hyperspectral imaging (HSI) stands out by capturing detailed spectral information across a wide range of wavelengths from the skin surface. This multispectral data contains rich biochemical and morphological information, allowing differentiation of tissue types and disease states beyond what is visible to the naked eye or standard RGB cameras.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FC5F147-08A8-0FD5-53F8-2EEA8B25F241}"/>
              </a:ext>
            </a:extLst>
          </p:cNvPr>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395349283"/>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2FAF8-93B3-768C-1B71-8FC394868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904BF2-36E0-6D7B-35C3-D1AD3AA1C121}"/>
              </a:ext>
            </a:extLst>
          </p:cNvPr>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Related Work</a:t>
            </a:r>
          </a:p>
        </p:txBody>
      </p:sp>
      <p:sp>
        <p:nvSpPr>
          <p:cNvPr id="3" name="Content Placeholder 2">
            <a:extLst>
              <a:ext uri="{FF2B5EF4-FFF2-40B4-BE49-F238E27FC236}">
                <a16:creationId xmlns:a16="http://schemas.microsoft.com/office/drawing/2014/main" id="{E2709569-D6D8-989B-F6A0-659316BD6260}"/>
              </a:ext>
            </a:extLst>
          </p:cNvPr>
          <p:cNvSpPr>
            <a:spLocks noGrp="1"/>
          </p:cNvSpPr>
          <p:nvPr>
            <p:ph idx="1"/>
          </p:nvPr>
        </p:nvSpPr>
        <p:spPr>
          <a:xfrm>
            <a:off x="838200" y="1184367"/>
            <a:ext cx="10515600" cy="4058194"/>
          </a:xfrm>
        </p:spPr>
        <p:txBody>
          <a:bodyPr/>
          <a:lstStyle/>
          <a:p>
            <a:r>
              <a:rPr lang="en-IN" dirty="0"/>
              <a:t>Research in non-invasive skin disease diagnosis using hyperspectral imaging has expanded over the last decade, demonstrating promising results in clinical diagnostics.</a:t>
            </a:r>
          </a:p>
          <a:p>
            <a:r>
              <a:rPr lang="en-IN" dirty="0"/>
              <a:t>Several studies have shown that hyperspectral imaging can differentiate between benign and malignant skin lesions by </a:t>
            </a:r>
            <a:r>
              <a:rPr lang="en-IN" dirty="0" err="1"/>
              <a:t>analyzing</a:t>
            </a:r>
            <a:r>
              <a:rPr lang="en-IN" dirty="0"/>
              <a:t> their distinct spectral signatures. For example, spectral differences in melanin, </a:t>
            </a:r>
            <a:r>
              <a:rPr lang="en-IN" dirty="0" err="1"/>
              <a:t>hemoglobin</a:t>
            </a:r>
            <a:r>
              <a:rPr lang="en-IN" dirty="0"/>
              <a:t>, and water content have been exploited to identify melanoma with improved accuracy over traditional methods.</a:t>
            </a:r>
          </a:p>
        </p:txBody>
      </p:sp>
      <p:sp>
        <p:nvSpPr>
          <p:cNvPr id="4" name="Slide Number Placeholder 3">
            <a:extLst>
              <a:ext uri="{FF2B5EF4-FFF2-40B4-BE49-F238E27FC236}">
                <a16:creationId xmlns:a16="http://schemas.microsoft.com/office/drawing/2014/main" id="{B7FB53AB-BD11-12A0-3B53-3033D1651193}"/>
              </a:ext>
            </a:extLst>
          </p:cNvPr>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2828774742"/>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F51FF-41D4-5B35-ADB8-6F4602CA3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EE931-B28B-3311-0E88-476D2C302995}"/>
              </a:ext>
            </a:extLst>
          </p:cNvPr>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Related Work</a:t>
            </a:r>
          </a:p>
        </p:txBody>
      </p:sp>
      <p:sp>
        <p:nvSpPr>
          <p:cNvPr id="3" name="Content Placeholder 2">
            <a:extLst>
              <a:ext uri="{FF2B5EF4-FFF2-40B4-BE49-F238E27FC236}">
                <a16:creationId xmlns:a16="http://schemas.microsoft.com/office/drawing/2014/main" id="{E655523D-6CF0-F83A-E04D-EE9C41C87392}"/>
              </a:ext>
            </a:extLst>
          </p:cNvPr>
          <p:cNvSpPr>
            <a:spLocks noGrp="1"/>
          </p:cNvSpPr>
          <p:nvPr>
            <p:ph idx="1"/>
          </p:nvPr>
        </p:nvSpPr>
        <p:spPr>
          <a:xfrm>
            <a:off x="838200" y="1184367"/>
            <a:ext cx="10515600" cy="4058194"/>
          </a:xfrm>
        </p:spPr>
        <p:txBody>
          <a:bodyPr/>
          <a:lstStyle/>
          <a:p>
            <a:r>
              <a:rPr lang="en-IN" dirty="0"/>
              <a:t>Research in non-invasive skin disease diagnosis using hyperspectral imaging has expanded over the last decade, demonstrating promising results in clinical diagnostics.</a:t>
            </a:r>
          </a:p>
          <a:p>
            <a:r>
              <a:rPr lang="en-IN" dirty="0"/>
              <a:t>Several studies have shown that hyperspectral imaging can differentiate between benign and malignant skin lesions by </a:t>
            </a:r>
            <a:r>
              <a:rPr lang="en-IN" dirty="0" err="1"/>
              <a:t>analyzing</a:t>
            </a:r>
            <a:r>
              <a:rPr lang="en-IN" dirty="0"/>
              <a:t> their distinct spectral signatures. For example, spectral differences in melanin, </a:t>
            </a:r>
            <a:r>
              <a:rPr lang="en-IN" dirty="0" err="1"/>
              <a:t>hemoglobin</a:t>
            </a:r>
            <a:r>
              <a:rPr lang="en-IN" dirty="0"/>
              <a:t>, and water content have been exploited to identify melanoma with improved accuracy over traditional methods.</a:t>
            </a:r>
          </a:p>
        </p:txBody>
      </p:sp>
      <p:sp>
        <p:nvSpPr>
          <p:cNvPr id="4" name="Slide Number Placeholder 3">
            <a:extLst>
              <a:ext uri="{FF2B5EF4-FFF2-40B4-BE49-F238E27FC236}">
                <a16:creationId xmlns:a16="http://schemas.microsoft.com/office/drawing/2014/main" id="{0BB5033F-DC2F-784D-1793-71265DA1D40F}"/>
              </a:ext>
            </a:extLst>
          </p:cNvPr>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4177690465"/>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9F36B-6DB6-3982-C54A-907344BD6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0BD9E-D1CE-0D62-E899-8B3DAAD92F5C}"/>
              </a:ext>
            </a:extLst>
          </p:cNvPr>
          <p:cNvSpPr>
            <a:spLocks noGrp="1"/>
          </p:cNvSpPr>
          <p:nvPr>
            <p:ph type="title"/>
          </p:nvPr>
        </p:nvSpPr>
        <p:spPr>
          <a:xfrm>
            <a:off x="572193" y="18224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21AFBD50-480A-DE90-4618-1164106FF482}"/>
              </a:ext>
            </a:extLst>
          </p:cNvPr>
          <p:cNvSpPr>
            <a:spLocks noGrp="1"/>
          </p:cNvSpPr>
          <p:nvPr>
            <p:ph idx="1"/>
          </p:nvPr>
        </p:nvSpPr>
        <p:spPr>
          <a:xfrm>
            <a:off x="572193" y="1001486"/>
            <a:ext cx="10515600" cy="4058194"/>
          </a:xfrm>
        </p:spPr>
        <p:txBody>
          <a:bodyPr/>
          <a:lstStyle/>
          <a:p>
            <a:pPr marL="0" indent="0">
              <a:buNone/>
            </a:pPr>
            <a:r>
              <a:rPr lang="en-US" sz="2400" dirty="0"/>
              <a:t>Skin diseases, including cancerous conditions like melanoma, require early and accurate diagnosis to improve treatment outcomes. Current methods rely on visual examination and invasive biopsies, which can be subjective, uncomfortable, and costly. There is a need for non-invasive, rapid, and objective diagnostic tools. Hyperspectral imaging offers detailed spectral data that can help differentiate skin diseases without physical intervention. However, analyzing this complex data accurately remains challenging due to variability in skin types and lesion characteristics. This project aims to develop a non-invasive skin disease detection system using hyperspectral imaging and machine learning to provide reliable, fast, and objective diagnosis, reducing the dependency on biopsies.</a:t>
            </a:r>
          </a:p>
        </p:txBody>
      </p:sp>
      <p:sp>
        <p:nvSpPr>
          <p:cNvPr id="4" name="Slide Number Placeholder 3">
            <a:extLst>
              <a:ext uri="{FF2B5EF4-FFF2-40B4-BE49-F238E27FC236}">
                <a16:creationId xmlns:a16="http://schemas.microsoft.com/office/drawing/2014/main" id="{AC3A30C3-5D0C-BC8B-3CEB-501184496A27}"/>
              </a:ext>
            </a:extLst>
          </p:cNvPr>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2179129284"/>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5A41B-9F88-49C4-E9F1-EE0045BE8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270BF-9060-DFE5-C5C3-F81DD7959B5C}"/>
              </a:ext>
            </a:extLst>
          </p:cNvPr>
          <p:cNvSpPr>
            <a:spLocks noGrp="1"/>
          </p:cNvSpPr>
          <p:nvPr>
            <p:ph type="title"/>
          </p:nvPr>
        </p:nvSpPr>
        <p:spPr>
          <a:xfrm>
            <a:off x="572193" y="18224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950E83F8-A458-1CD1-CBAF-EBDB796CDAA8}"/>
              </a:ext>
            </a:extLst>
          </p:cNvPr>
          <p:cNvSpPr>
            <a:spLocks noGrp="1"/>
          </p:cNvSpPr>
          <p:nvPr>
            <p:ph idx="1"/>
          </p:nvPr>
        </p:nvSpPr>
        <p:spPr>
          <a:xfrm>
            <a:off x="572193" y="1001486"/>
            <a:ext cx="10515600" cy="4058194"/>
          </a:xfrm>
        </p:spPr>
        <p:txBody>
          <a:bodyPr/>
          <a:lstStyle/>
          <a:p>
            <a:pPr marL="0" indent="0">
              <a:buNone/>
            </a:pPr>
            <a:r>
              <a:rPr lang="en-US" dirty="0"/>
              <a:t>1. Dataset Selection and Understanding</a:t>
            </a:r>
          </a:p>
          <a:p>
            <a:r>
              <a:rPr lang="en-US" dirty="0"/>
              <a:t>Identify and acquire publicly available or previously collected hyperspectral skin imaging datasets that include labeled examples of various skin diseases and healthy skin.</a:t>
            </a:r>
          </a:p>
          <a:p>
            <a:r>
              <a:rPr lang="en-US" dirty="0"/>
              <a:t>Study dataset characteristics such as spectral range, spatial resolution, types of skin conditions included, and labeling quality to ensure suitability for your objectives</a:t>
            </a:r>
          </a:p>
        </p:txBody>
      </p:sp>
      <p:sp>
        <p:nvSpPr>
          <p:cNvPr id="4" name="Slide Number Placeholder 3">
            <a:extLst>
              <a:ext uri="{FF2B5EF4-FFF2-40B4-BE49-F238E27FC236}">
                <a16:creationId xmlns:a16="http://schemas.microsoft.com/office/drawing/2014/main" id="{F9B19808-920B-7F90-F622-C5BC6A713CBE}"/>
              </a:ext>
            </a:extLst>
          </p:cNvPr>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749156069"/>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41C57-8B70-7A8A-3739-05BF229EB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00810-5642-2D8A-57DD-30DD7D5F24BA}"/>
              </a:ext>
            </a:extLst>
          </p:cNvPr>
          <p:cNvSpPr>
            <a:spLocks noGrp="1"/>
          </p:cNvSpPr>
          <p:nvPr>
            <p:ph type="title"/>
          </p:nvPr>
        </p:nvSpPr>
        <p:spPr>
          <a:xfrm>
            <a:off x="572193" y="18224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D7C69301-7F49-26CA-A621-C9B93C5954D8}"/>
              </a:ext>
            </a:extLst>
          </p:cNvPr>
          <p:cNvSpPr>
            <a:spLocks noGrp="1"/>
          </p:cNvSpPr>
          <p:nvPr>
            <p:ph idx="1"/>
          </p:nvPr>
        </p:nvSpPr>
        <p:spPr>
          <a:xfrm>
            <a:off x="572193" y="1001486"/>
            <a:ext cx="10515600" cy="4058194"/>
          </a:xfrm>
        </p:spPr>
        <p:txBody>
          <a:bodyPr/>
          <a:lstStyle/>
          <a:p>
            <a:pPr marL="0" indent="0">
              <a:buNone/>
            </a:pPr>
            <a:r>
              <a:rPr lang="en-US" dirty="0"/>
              <a:t>2. Data Preprocessing</a:t>
            </a:r>
          </a:p>
          <a:p>
            <a:r>
              <a:rPr lang="en-US" dirty="0"/>
              <a:t>Clean the dataset by removing corrupted or incomplete samples.</a:t>
            </a:r>
          </a:p>
          <a:p>
            <a:r>
              <a:rPr lang="en-US" dirty="0"/>
              <a:t>Apply spectral calibration and normalization to standardize the data across images and reduce variability due to acquisition conditions.</a:t>
            </a:r>
          </a:p>
          <a:p>
            <a:r>
              <a:rPr lang="en-US" dirty="0"/>
              <a:t>Perform noise reduction to enhance spectral signal quality.</a:t>
            </a:r>
          </a:p>
          <a:p>
            <a:r>
              <a:rPr lang="en-US" dirty="0"/>
              <a:t>Use dimensionality reduction techniques such as Principal Component Analysis (PCA) to reduce computational complexity while retaining salient spectral features.</a:t>
            </a:r>
          </a:p>
          <a:p>
            <a:br>
              <a:rPr lang="en-US" dirty="0"/>
            </a:br>
            <a:endParaRPr lang="en-US" dirty="0"/>
          </a:p>
        </p:txBody>
      </p:sp>
      <p:sp>
        <p:nvSpPr>
          <p:cNvPr id="4" name="Slide Number Placeholder 3">
            <a:extLst>
              <a:ext uri="{FF2B5EF4-FFF2-40B4-BE49-F238E27FC236}">
                <a16:creationId xmlns:a16="http://schemas.microsoft.com/office/drawing/2014/main" id="{1ACAA083-7BA5-F4E5-91F5-891A5E08AA6A}"/>
              </a:ext>
            </a:extLst>
          </p:cNvPr>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459751563"/>
      </p:ext>
    </p:extLst>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8CCC9-5F0D-3195-9890-0364300C4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0EBAD-F81F-ED99-1BD5-E20F86912378}"/>
              </a:ext>
            </a:extLst>
          </p:cNvPr>
          <p:cNvSpPr>
            <a:spLocks noGrp="1"/>
          </p:cNvSpPr>
          <p:nvPr>
            <p:ph type="title"/>
          </p:nvPr>
        </p:nvSpPr>
        <p:spPr>
          <a:xfrm>
            <a:off x="572193" y="0"/>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49FB42C1-B9CA-3FAB-FA21-4A1A25B06211}"/>
              </a:ext>
            </a:extLst>
          </p:cNvPr>
          <p:cNvSpPr>
            <a:spLocks noGrp="1"/>
          </p:cNvSpPr>
          <p:nvPr>
            <p:ph idx="1"/>
          </p:nvPr>
        </p:nvSpPr>
        <p:spPr>
          <a:xfrm>
            <a:off x="562495" y="603864"/>
            <a:ext cx="10334105" cy="5856514"/>
          </a:xfrm>
        </p:spPr>
        <p:txBody>
          <a:bodyPr/>
          <a:lstStyle/>
          <a:p>
            <a:pPr marL="0" indent="0">
              <a:buNone/>
            </a:pPr>
            <a:r>
              <a:rPr lang="en-US" sz="2400" dirty="0"/>
              <a:t>3.Feature Extraction</a:t>
            </a:r>
          </a:p>
          <a:p>
            <a:r>
              <a:rPr lang="en-US" sz="2400" dirty="0"/>
              <a:t>Extract spectral and spatial features from the segmented lesions.</a:t>
            </a:r>
          </a:p>
          <a:p>
            <a:r>
              <a:rPr lang="en-US" sz="2400" dirty="0"/>
              <a:t>Features could include spectral signatures, texture descriptors, and morphological parameters, which reflect the biochemical and structural properties of skin lesions.</a:t>
            </a:r>
          </a:p>
          <a:p>
            <a:pPr marL="0" indent="0">
              <a:buNone/>
            </a:pPr>
            <a:r>
              <a:rPr lang="en-US" sz="2400" dirty="0"/>
              <a:t>4. Classification Model Training and Optimization</a:t>
            </a:r>
          </a:p>
          <a:p>
            <a:r>
              <a:rPr lang="en-US" sz="2400" dirty="0"/>
              <a:t>Train machine learning models (e.g., Support Vector Machines, Random Forests, or deep neural networks) on the extracted features with labeled data.</a:t>
            </a:r>
          </a:p>
          <a:p>
            <a:r>
              <a:rPr lang="en-US" sz="2400" dirty="0"/>
              <a:t>Use techniques such as cross-validation and hyperparameter tuning to optimize model performance and prevent overfitting.</a:t>
            </a:r>
          </a:p>
          <a:p>
            <a:r>
              <a:rPr lang="en-US" sz="2400" dirty="0"/>
              <a:t>Compare different classifiers to select the most effective model for skin disease detection</a:t>
            </a:r>
          </a:p>
          <a:p>
            <a:pPr marL="0" indent="0">
              <a:buNone/>
            </a:pPr>
            <a:endParaRPr lang="en-US" sz="2400" dirty="0"/>
          </a:p>
        </p:txBody>
      </p:sp>
      <p:sp>
        <p:nvSpPr>
          <p:cNvPr id="4" name="Slide Number Placeholder 3">
            <a:extLst>
              <a:ext uri="{FF2B5EF4-FFF2-40B4-BE49-F238E27FC236}">
                <a16:creationId xmlns:a16="http://schemas.microsoft.com/office/drawing/2014/main" id="{2B30A2BF-BE50-DE3D-B91D-652FF1E2EEEC}"/>
              </a:ext>
            </a:extLst>
          </p:cNvPr>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86561464"/>
      </p:ext>
    </p:extLst>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Proposed Methodology</a:t>
            </a:r>
          </a:p>
        </p:txBody>
      </p:sp>
      <p:sp>
        <p:nvSpPr>
          <p:cNvPr id="3" name="Content Placeholder 2"/>
          <p:cNvSpPr>
            <a:spLocks noGrp="1"/>
          </p:cNvSpPr>
          <p:nvPr>
            <p:ph idx="1"/>
          </p:nvPr>
        </p:nvSpPr>
        <p:spPr>
          <a:xfrm>
            <a:off x="838200" y="1136469"/>
            <a:ext cx="10515600" cy="4140925"/>
          </a:xfrm>
        </p:spPr>
        <p:txBody>
          <a:bodyPr/>
          <a:lstStyle/>
          <a:p>
            <a:pPr marL="0" indent="0">
              <a:buNone/>
            </a:pPr>
            <a:r>
              <a:rPr lang="en-US" dirty="0"/>
              <a:t>5. Performance Evaluation and Validation</a:t>
            </a:r>
          </a:p>
          <a:p>
            <a:r>
              <a:rPr lang="en-US" dirty="0"/>
              <a:t>Evaluate the trained model on unseen test data from the dataset.</a:t>
            </a:r>
          </a:p>
          <a:p>
            <a:r>
              <a:rPr lang="en-US" dirty="0"/>
              <a:t>Calculate performance metrics such as accuracy, sensitivity, specificity, precision, and recall.</a:t>
            </a:r>
          </a:p>
          <a:p>
            <a:r>
              <a:rPr lang="en-US" dirty="0"/>
              <a:t>Analyze results to identify strengths and limitations and consider possible improvements.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973887109"/>
      </p:ext>
    </p:extLst>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24FF8-03B3-29A5-52B9-B0352C751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C64C5-B6F2-8017-8D7D-FDC2A5E10878}"/>
              </a:ext>
            </a:extLst>
          </p:cNvPr>
          <p:cNvSpPr>
            <a:spLocks noGrp="1"/>
          </p:cNvSpPr>
          <p:nvPr>
            <p:ph type="title"/>
          </p:nvPr>
        </p:nvSpPr>
        <p:spPr>
          <a:xfrm>
            <a:off x="838200" y="365126"/>
            <a:ext cx="10515600" cy="627652"/>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02B97D35-A6C4-F327-A53C-8BA144D32870}"/>
              </a:ext>
            </a:extLst>
          </p:cNvPr>
          <p:cNvSpPr>
            <a:spLocks noGrp="1"/>
          </p:cNvSpPr>
          <p:nvPr>
            <p:ph idx="1"/>
          </p:nvPr>
        </p:nvSpPr>
        <p:spPr>
          <a:xfrm>
            <a:off x="605444" y="1153095"/>
            <a:ext cx="10515600" cy="4140925"/>
          </a:xfrm>
        </p:spPr>
        <p:txBody>
          <a:bodyPr/>
          <a:lstStyle/>
          <a:p>
            <a:pPr marL="0" indent="0">
              <a:buNone/>
            </a:pPr>
            <a:r>
              <a:rPr lang="en-US" dirty="0"/>
              <a:t>7. Documentation and Reporting</a:t>
            </a:r>
          </a:p>
          <a:p>
            <a:r>
              <a:rPr lang="en-US" dirty="0"/>
              <a:t>Document all preprocessing steps, model architectures, training parameters, and evaluation results rigorously for reproducibility.</a:t>
            </a:r>
          </a:p>
          <a:p>
            <a:r>
              <a:rPr lang="en-US" dirty="0"/>
              <a:t>Prepare visualization of findings including classification results and performance metrics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6E20CE6-46CE-03B6-95BD-93C7EAD286F5}"/>
              </a:ext>
            </a:extLst>
          </p:cNvPr>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685866692"/>
      </p:ext>
    </p:extLst>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C7D24-97D3-AD79-BEAB-D3050C82E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48A13-2F5A-A165-E40E-8AAD99198C34}"/>
              </a:ext>
            </a:extLst>
          </p:cNvPr>
          <p:cNvSpPr>
            <a:spLocks noGrp="1"/>
          </p:cNvSpPr>
          <p:nvPr>
            <p:ph type="title"/>
          </p:nvPr>
        </p:nvSpPr>
        <p:spPr>
          <a:xfrm>
            <a:off x="838200" y="365126"/>
            <a:ext cx="10515600" cy="627652"/>
          </a:xfrm>
        </p:spPr>
        <p:txBody>
          <a:bodyPr/>
          <a:lstStyle/>
          <a:p>
            <a:r>
              <a:rPr lang="en-IN" sz="4000" b="1" dirty="0">
                <a:solidFill>
                  <a:schemeClr val="accent1">
                    <a:lumMod val="75000"/>
                  </a:schemeClr>
                </a:solidFill>
              </a:rPr>
              <a:t>Innovation and Novel Contributions</a:t>
            </a:r>
          </a:p>
        </p:txBody>
      </p:sp>
      <p:sp>
        <p:nvSpPr>
          <p:cNvPr id="3" name="Content Placeholder 2">
            <a:extLst>
              <a:ext uri="{FF2B5EF4-FFF2-40B4-BE49-F238E27FC236}">
                <a16:creationId xmlns:a16="http://schemas.microsoft.com/office/drawing/2014/main" id="{E70B6498-4B58-D628-5ECA-819196B8E14D}"/>
              </a:ext>
            </a:extLst>
          </p:cNvPr>
          <p:cNvSpPr>
            <a:spLocks noGrp="1"/>
          </p:cNvSpPr>
          <p:nvPr>
            <p:ph idx="1"/>
          </p:nvPr>
        </p:nvSpPr>
        <p:spPr>
          <a:xfrm>
            <a:off x="605444" y="1153095"/>
            <a:ext cx="10515600" cy="4140925"/>
          </a:xfrm>
        </p:spPr>
        <p:txBody>
          <a:bodyPr/>
          <a:lstStyle/>
          <a:p>
            <a:pPr marL="0" indent="0">
              <a:buNone/>
            </a:pPr>
            <a:r>
              <a:rPr lang="en-US" dirty="0"/>
              <a:t>This project uniquely combines hyperspectral imaging with advanced machine learning to enable non-invasive, rapid, and highly accurate detection of skin diseases. By analyzing detailed spectral information beyond visible light, it improves early diagnosis and differentiation of malignant and benign lesions. The use of attention-based segmentation models further enhances lesion localization. Overall, this approach offers a user-friendly, objective diagnostic tool that can reduce reliance on invasive biopsies and has strong potential for clinical adoption.</a:t>
            </a:r>
          </a:p>
          <a:p>
            <a:pPr marL="0" indent="0">
              <a:buNone/>
            </a:pPr>
            <a:br>
              <a:rPr lang="en-US" dirty="0"/>
            </a:b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6A3D1AC-5150-374F-0C38-100FE990B2B5}"/>
              </a:ext>
            </a:extLst>
          </p:cNvPr>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Tree>
    <p:extLst>
      <p:ext uri="{BB962C8B-B14F-4D97-AF65-F5344CB8AC3E}">
        <p14:creationId xmlns:p14="http://schemas.microsoft.com/office/powerpoint/2010/main" val="3376341990"/>
      </p:ext>
    </p:extLst>
  </p:cSld>
  <p:clrMapOvr>
    <a:masterClrMapping/>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7104-047E-7AA4-AAE6-74F74805EB0D}"/>
              </a:ext>
            </a:extLst>
          </p:cNvPr>
          <p:cNvSpPr>
            <a:spLocks noGrp="1"/>
          </p:cNvSpPr>
          <p:nvPr>
            <p:ph type="title"/>
          </p:nvPr>
        </p:nvSpPr>
        <p:spPr/>
        <p:txBody>
          <a:bodyPr/>
          <a:lstStyle/>
          <a:p>
            <a:r>
              <a:rPr lang="en-IN" dirty="0"/>
              <a:t>Results and Discussion</a:t>
            </a:r>
          </a:p>
        </p:txBody>
      </p:sp>
      <p:sp>
        <p:nvSpPr>
          <p:cNvPr id="3" name="Content Placeholder 2">
            <a:extLst>
              <a:ext uri="{FF2B5EF4-FFF2-40B4-BE49-F238E27FC236}">
                <a16:creationId xmlns:a16="http://schemas.microsoft.com/office/drawing/2014/main" id="{ED41CA52-2D7D-7EF7-80C1-8A0F465369A9}"/>
              </a:ext>
            </a:extLst>
          </p:cNvPr>
          <p:cNvSpPr>
            <a:spLocks noGrp="1"/>
          </p:cNvSpPr>
          <p:nvPr>
            <p:ph idx="1"/>
          </p:nvPr>
        </p:nvSpPr>
        <p:spPr>
          <a:xfrm>
            <a:off x="838199" y="1335741"/>
            <a:ext cx="10515601" cy="4841222"/>
          </a:xfrm>
        </p:spPr>
        <p:txBody>
          <a:bodyPr/>
          <a:lstStyle/>
          <a:p>
            <a:pPr marL="0" indent="0" algn="just">
              <a:buNone/>
            </a:pPr>
            <a:r>
              <a:rPr lang="en-US" sz="2000" dirty="0"/>
              <a:t>The 3D U-Net model for melanoma staging was evaluated using hyperspectral imaging (HSI) data cubes that record both spatial and spectral details. The model exhibited diminishing loss and rising validation accuracy as it converged smoothly without overfitting. With efficient capture of spectral-spatial correlations, volumetric convolutions, enhanced stage prediction, and lesion segmentation. At a 97.96% F1-score, it held high sensitivity and specificity while accurately classifying all four melanoma stages with minimal false positives. This work shows 3D U-Net architectures significantly improve non-invasive, automated melanoma staging with hyperspectral imaging (HSI) to 97.94% accuracy. Through capturing spatial and spectral tissue characteristics, the model successfully discriminates  stages of melanoma. Deep contextual learning is made possible by its 3D convolutions, as opposed to 2D approaches. </a:t>
            </a:r>
            <a:endParaRPr lang="en-IN" sz="2000" dirty="0"/>
          </a:p>
        </p:txBody>
      </p:sp>
      <p:sp>
        <p:nvSpPr>
          <p:cNvPr id="4" name="Slide Number Placeholder 3">
            <a:extLst>
              <a:ext uri="{FF2B5EF4-FFF2-40B4-BE49-F238E27FC236}">
                <a16:creationId xmlns:a16="http://schemas.microsoft.com/office/drawing/2014/main" id="{1DA3372C-53E5-45C2-5028-3B67287A9CDE}"/>
              </a:ext>
            </a:extLst>
          </p:cNvPr>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Tree>
    <p:extLst>
      <p:ext uri="{BB962C8B-B14F-4D97-AF65-F5344CB8AC3E}">
        <p14:creationId xmlns:p14="http://schemas.microsoft.com/office/powerpoint/2010/main" val="1235826763"/>
      </p:ext>
    </p:extLst>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04F1D-0CA2-0475-C990-188CCBA1EBF1}"/>
              </a:ext>
            </a:extLst>
          </p:cNvPr>
          <p:cNvSpPr>
            <a:spLocks noGrp="1"/>
          </p:cNvSpPr>
          <p:nvPr>
            <p:ph type="title"/>
          </p:nvPr>
        </p:nvSpPr>
        <p:spPr>
          <a:xfrm>
            <a:off x="951394" y="365125"/>
            <a:ext cx="10402405" cy="477557"/>
          </a:xfrm>
        </p:spPr>
        <p:txBody>
          <a:bodyPr/>
          <a:lstStyle/>
          <a:p>
            <a:r>
              <a:rPr lang="en-IN" dirty="0"/>
              <a:t>Results</a:t>
            </a:r>
          </a:p>
        </p:txBody>
      </p:sp>
      <p:pic>
        <p:nvPicPr>
          <p:cNvPr id="6" name="Content Placeholder 5">
            <a:extLst>
              <a:ext uri="{FF2B5EF4-FFF2-40B4-BE49-F238E27FC236}">
                <a16:creationId xmlns:a16="http://schemas.microsoft.com/office/drawing/2014/main" id="{50DA11BC-8462-8A92-26B1-FF25CD25E5EC}"/>
              </a:ext>
            </a:extLst>
          </p:cNvPr>
          <p:cNvPicPr>
            <a:picLocks noGrp="1" noChangeAspect="1"/>
          </p:cNvPicPr>
          <p:nvPr>
            <p:ph idx="1"/>
          </p:nvPr>
        </p:nvPicPr>
        <p:blipFill>
          <a:blip r:embed="rId2"/>
          <a:stretch>
            <a:fillRect/>
          </a:stretch>
        </p:blipFill>
        <p:spPr bwMode="auto">
          <a:xfrm>
            <a:off x="431442" y="1065640"/>
            <a:ext cx="3709115" cy="2697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E01ECCC8-1CCE-C6C2-FA4D-F5AC52702294}"/>
              </a:ext>
            </a:extLst>
          </p:cNvPr>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pic>
        <p:nvPicPr>
          <p:cNvPr id="8" name="Picture 7">
            <a:extLst>
              <a:ext uri="{FF2B5EF4-FFF2-40B4-BE49-F238E27FC236}">
                <a16:creationId xmlns:a16="http://schemas.microsoft.com/office/drawing/2014/main" id="{EFCFCC61-5608-895D-492B-BFDDF92FBD24}"/>
              </a:ext>
            </a:extLst>
          </p:cNvPr>
          <p:cNvPicPr>
            <a:picLocks noChangeAspect="1"/>
          </p:cNvPicPr>
          <p:nvPr/>
        </p:nvPicPr>
        <p:blipFill>
          <a:blip r:embed="rId3"/>
          <a:stretch>
            <a:fillRect/>
          </a:stretch>
        </p:blipFill>
        <p:spPr>
          <a:xfrm>
            <a:off x="4140557" y="1300740"/>
            <a:ext cx="3657600" cy="2911813"/>
          </a:xfrm>
          <a:prstGeom prst="rect">
            <a:avLst/>
          </a:prstGeom>
        </p:spPr>
      </p:pic>
      <p:pic>
        <p:nvPicPr>
          <p:cNvPr id="10" name="Picture 9">
            <a:extLst>
              <a:ext uri="{FF2B5EF4-FFF2-40B4-BE49-F238E27FC236}">
                <a16:creationId xmlns:a16="http://schemas.microsoft.com/office/drawing/2014/main" id="{03B3C260-8141-1B99-3DF7-DC243EDE32A2}"/>
              </a:ext>
            </a:extLst>
          </p:cNvPr>
          <p:cNvPicPr>
            <a:picLocks noChangeAspect="1"/>
          </p:cNvPicPr>
          <p:nvPr/>
        </p:nvPicPr>
        <p:blipFill>
          <a:blip r:embed="rId4"/>
          <a:stretch>
            <a:fillRect/>
          </a:stretch>
        </p:blipFill>
        <p:spPr>
          <a:xfrm>
            <a:off x="7689066" y="1446846"/>
            <a:ext cx="4146997" cy="2386519"/>
          </a:xfrm>
          <a:prstGeom prst="rect">
            <a:avLst/>
          </a:prstGeom>
        </p:spPr>
      </p:pic>
    </p:spTree>
    <p:extLst>
      <p:ext uri="{BB962C8B-B14F-4D97-AF65-F5344CB8AC3E}">
        <p14:creationId xmlns:p14="http://schemas.microsoft.com/office/powerpoint/2010/main" val="2067020589"/>
      </p:ext>
    </p:extLst>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8429</TotalTime>
  <Words>1218</Words>
  <Application>Microsoft Office PowerPoint</Application>
  <PresentationFormat>Widescreen</PresentationFormat>
  <Paragraphs>86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Capstone Project- (CSE7101)  Final Review Presentation  Non-Invasive Skin disease Detection Using Hyper Spectral Imaging  </vt:lpstr>
      <vt:lpstr>Project Objective</vt:lpstr>
      <vt:lpstr>Project Objective</vt:lpstr>
      <vt:lpstr>Background</vt:lpstr>
      <vt:lpstr>Background</vt:lpstr>
      <vt:lpstr>Related Work</vt:lpstr>
      <vt:lpstr>Related Work</vt:lpstr>
      <vt:lpstr>Problem Statement</vt:lpstr>
      <vt:lpstr>Proposed Methodology</vt:lpstr>
      <vt:lpstr>Proposed Methodology</vt:lpstr>
      <vt:lpstr>Proposed Methodology</vt:lpstr>
      <vt:lpstr>Proposed Methodology</vt:lpstr>
      <vt:lpstr>Proposed Methodology</vt:lpstr>
      <vt:lpstr>Innovation and Novel Contributions</vt:lpstr>
      <vt:lpstr>Results and Discussion</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priya jose</cp:lastModifiedBy>
  <cp:revision>891</cp:revision>
  <cp:lastPrinted>2018-07-24T06:37:20Z</cp:lastPrinted>
  <dcterms:created xsi:type="dcterms:W3CDTF">2018-06-07T04:06:17Z</dcterms:created>
  <dcterms:modified xsi:type="dcterms:W3CDTF">2025-12-03T07:27:30Z</dcterms:modified>
</cp:coreProperties>
</file>